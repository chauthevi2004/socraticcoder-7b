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6327c2de2c841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[Slide 1 - Opening: 15s]</a:t>
            </a:r>
          </a:p>
          <a:p>
            <a:r>
              <a:t>Xin chào quý thầy cô và hội đồng GStar 2026. Em là Châu Thế Vĩ. Dự án của em là SocraticCoder-7B: Beyond Solution Dumping.</a:t>
            </a:r>
          </a:p>
          <a:p>
            <a:r>
              <a:t>Dự án giải quyết trực tiếp thách thức căn bản của AI Alignment: 'Một mô hình giải bài rất giỏi chưa chắc đã giúp con người học tập được'. Thay vì dump code sẵn khiến học sinh học vẹt (bên trái), chúng em huấn luyện mô hình gia sư bằng State-Jump RL để tối đa hóa năng lực tự giải bài mới của học sinh (bên phải).</a:t>
            </a:r>
          </a:p>
        </p:txBody>
      </p:sp>
      <p:sp>
        <p:nvSpPr>
          <p:cNvPr id="52" name="Google Shape;52;h6327c2de2c8413c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6327c2de2c8413c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[Slide 2 - Method &amp; Pipeline: 50s]</a:t>
            </a:r>
          </a:p>
          <a:p>
            <a:r>
              <a:t>Phương pháp của chúng em gồm 4 mắt xích cốt lõi được mô tả ở sơ đồ kiến trúc:</a:t>
            </a:r>
          </a:p>
          <a:p>
            <a:r>
              <a:t>1. Môi trường bài toán đẳng cấu (P, P') với 4 persona học sinh, từ học sinh hoang mang đến đối tượng adversarial đòi code trực tiếp.</a:t>
            </a:r>
          </a:p>
          <a:p>
            <a:r>
              <a:t>2. Tutor Policy khởi tạo từ Qwen2.5-Coder-7B với QLoRA, sinh câu hỏi chẩn đoán để học sinh tự phát hiện invariant.</a:t>
            </a:r>
          </a:p>
          <a:p>
            <a:r>
              <a:t>3. Bộ kiểm định Executable Non-Leakage Gate bằng AST parser: nếu gia sư làm lộ code quá 2 dòng, phần thưởng lập tức bị phạt về 0.</a:t>
            </a:r>
          </a:p>
          <a:p>
            <a:r>
              <a:t>4. Hàm thưởng Verifiable Reward tối ưu hóa trực tiếp bằng thuật toán GRPO/DAPO trên Kaggle Dual T4, kết hợp giữa việc sửa bài P và mức tăng trưởng giải bài mới P' với trọng số beta=0.60.</a:t>
            </a:r>
          </a:p>
        </p:txBody>
      </p:sp>
      <p:sp>
        <p:nvSpPr>
          <p:cNvPr id="66" name="Google Shape;66;h6327c2de2c8413c7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6327c2de2c8413c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[Slide 3 - Results &amp; Breakthroughs: 55s]</a:t>
            </a:r>
          </a:p>
          <a:p>
            <a:r>
              <a:t>Trên tập test gồm 100 cặp bài toán độc lập, SocraticCoder-7B mang lại 3 kết quả đột phá:</a:t>
            </a:r>
          </a:p>
          <a:p>
            <a:r>
              <a:t>Thứ nhất: Đạt mức tăng trưởng chuyển giao trung bình +77.7% DeltaPass@1, vượt xa cả Google Gemini 3.5 Flash-Lite (+35.5%) và mô hình Base (+40.6%).</a:t>
            </a:r>
          </a:p>
          <a:p>
            <a:r>
              <a:t>Thứ hai: Thí nghiệm Causal Ablation chứng minh khi tắt phần thưởng chuyển giao (beta=0), kết quả sụt giảm ngay 27.5%, khẳng định rằng việc gia sư dạy cho học sinh hiểu bản chất bắt buộc phải có mục tiêu tưởng thưởng chuyển giao.</a:t>
            </a:r>
          </a:p>
          <a:p>
            <a:r>
              <a:t>Thứ ba: Tỷ lệ làm lộ code trước các đòn ép code Adversarial giảm từ 50% xuống chỉ còn 3.9% (so với 23.1% của Gemini 3.5), đồng thời tiết kiệm gấp gần 4 lần lượng token.</a:t>
            </a:r>
          </a:p>
          <a:p>
            <a:r>
              <a:t>Toàn bộ mô hình đã được đóng gói và chạy thực nghiệm trực tiếp trên Web IDE với môi trường sandbox chấm test tự động. Em xin chân thành cảm ơn quý thầy cô và hội đồng!</a:t>
            </a:r>
          </a:p>
        </p:txBody>
      </p:sp>
      <p:sp>
        <p:nvSpPr>
          <p:cNvPr id="78" name="Google Shape;78;h6327c2de2c8413c7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pSp>
        <p:nvGrpSpPr>
          <p:cNvPr id="54" name="Google Shape;54;p13"/>
          <p:cNvGrpSpPr/>
          <p:nvPr/>
        </p:nvGrpSpPr>
        <p:grpSpPr>
          <a:xfrm>
            <a:off x="-23800" y="-127"/>
            <a:ext cx="9191483" cy="5143711"/>
            <a:chOff x="0" y="-38100"/>
            <a:chExt cx="9683400" cy="8442000"/>
          </a:xfrm>
        </p:grpSpPr>
        <p:sp>
          <p:nvSpPr>
            <p:cNvPr id="55" name="Google Shape;55;p13"/>
            <p:cNvSpPr/>
            <p:nvPr/>
          </p:nvSpPr>
          <p:spPr>
            <a:xfrm>
              <a:off x="0" y="0"/>
              <a:ext cx="9683333" cy="8403868"/>
            </a:xfrm>
            <a:custGeom>
              <a:rect b="b" l="l" r="r" t="t"/>
              <a:pathLst>
                <a:path extrusionOk="0" h="8403868" w="9683333">
                  <a:moveTo>
                    <a:pt x="0" y="0"/>
                  </a:moveTo>
                  <a:lnTo>
                    <a:pt x="9683333" y="0"/>
                  </a:lnTo>
                  <a:lnTo>
                    <a:pt x="9683333" y="8403868"/>
                  </a:lnTo>
                  <a:lnTo>
                    <a:pt x="0" y="8403868"/>
                  </a:lnTo>
                  <a:close/>
                </a:path>
              </a:pathLst>
            </a:custGeom>
            <a:solidFill>
              <a:srgbClr val="731013"/>
            </a:solidFill>
            <a:ln>
              <a:noFill/>
            </a:ln>
          </p:spPr>
        </p:sp>
        <p:sp>
          <p:nvSpPr>
            <p:cNvPr id="56" name="Google Shape;56;p13"/>
            <p:cNvSpPr txBox="1"/>
            <p:nvPr/>
          </p:nvSpPr>
          <p:spPr>
            <a:xfrm>
              <a:off x="0" y="-38100"/>
              <a:ext cx="9683400" cy="8442000"/>
            </a:xfrm>
            <a:prstGeom prst="rect">
              <a:avLst/>
            </a:prstGeom>
            <a:noFill/>
            <a:ln>
              <a:noFill/>
            </a:ln>
          </p:spPr>
          <p:txBody>
            <a:bodyPr anchorCtr="0" anchor="ctr" bIns="25400" lIns="25400" spcFirstLastPara="1" rIns="25400" wrap="square" tIns="25400">
              <a:noAutofit/>
            </a:bodyPr>
            <a:lstStyle/>
            <a:p>
              <a:pPr indent="0" lvl="0" marL="0" marR="0" rtl="0" algn="l">
                <a:lnSpc>
                  <a:spcPct val="84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7" name="Google Shape;57;p13"/>
          <p:cNvSpPr/>
          <p:nvPr/>
        </p:nvSpPr>
        <p:spPr>
          <a:xfrm>
            <a:off x="23800" y="0"/>
            <a:ext cx="9144000" cy="5186745"/>
          </a:xfrm>
          <a:custGeom>
            <a:rect b="b" l="l" r="r" t="t"/>
            <a:pathLst>
              <a:path extrusionOk="0" h="10373489" w="18288000">
                <a:moveTo>
                  <a:pt x="0" y="0"/>
                </a:moveTo>
                <a:lnTo>
                  <a:pt x="18288000" y="0"/>
                </a:lnTo>
                <a:lnTo>
                  <a:pt x="18288000" y="10373489"/>
                </a:lnTo>
                <a:lnTo>
                  <a:pt x="0" y="10373489"/>
                </a:lnTo>
                <a:lnTo>
                  <a:pt x="0" y="0"/>
                </a:lnTo>
                <a:close/>
              </a:path>
            </a:pathLst>
          </a:custGeom>
          <a:blipFill rotWithShape="1">
            <a:blip r:embed="rId3">
              <a:alphaModFix/>
            </a:blip>
            <a:stretch>
              <a:fillRect b="-1490" l="0" r="-19610" t="-28051"/>
            </a:stretch>
          </a:blipFill>
          <a:ln>
            <a:noFill/>
          </a:ln>
        </p:spPr>
      </p:sp>
      <p:sp>
        <p:nvSpPr>
          <p:cNvPr id="62" name="Google Shape;62;p13"/>
          <p:cNvSpPr/>
          <p:nvPr/>
        </p:nvSpPr>
        <p:spPr>
          <a:xfrm>
            <a:off x="314943" y="248110"/>
            <a:ext cx="793731" cy="873023"/>
          </a:xfrm>
          <a:custGeom>
            <a:rect b="b" l="l" r="r" t="t"/>
            <a:pathLst>
              <a:path extrusionOk="0" h="1746045" w="1587462">
                <a:moveTo>
                  <a:pt x="0" y="0"/>
                </a:moveTo>
                <a:lnTo>
                  <a:pt x="1587462" y="0"/>
                </a:lnTo>
                <a:lnTo>
                  <a:pt x="1587462" y="1746045"/>
                </a:lnTo>
                <a:lnTo>
                  <a:pt x="0" y="1746045"/>
                </a:lnTo>
                <a:lnTo>
                  <a:pt x="0" y="0"/>
                </a:lnTo>
                <a:close/>
              </a:path>
            </a:pathLst>
          </a:custGeom>
          <a:blipFill rotWithShape="1">
            <a:blip r:embed="rId4">
              <a:alphaModFix/>
            </a:blip>
            <a:stretch>
              <a:fillRect b="0" l="0" r="0" t="0"/>
            </a:stretch>
          </a:blipFill>
          <a:ln>
            <a:noFill/>
          </a:ln>
        </p:spPr>
      </p:sp>
      <p:sp>
        <p:nvSpPr>
          <p:cNvPr id="63" name="TextBox 62"/>
          <p:cNvSpPr txBox="1"/>
          <p:nvPr/>
        </p:nvSpPr>
        <p:spPr>
          <a:xfrm>
            <a:off x="512064" y="1188720"/>
            <a:ext cx="8119872" cy="1005840"/>
          </a:xfrm>
          <a:prstGeom prst="rect">
            <a:avLst/>
          </a:prstGeom>
          <a:noFill/>
        </p:spPr>
        <p:txBody>
          <a:bodyPr wrap="square">
            <a:spAutoFit/>
          </a:bodyPr>
          <a:lstStyle/>
          <a:p>
            <a:pPr>
              <a:defRPr sz="3600" b="1">
                <a:solidFill>
                  <a:srgbClr val="0F172A"/>
                </a:solidFill>
                <a:latin typeface="Arial"/>
              </a:defRPr>
            </a:pPr>
            <a:r>
              <a:t>SocraticCoder-7B</a:t>
            </a:r>
          </a:p>
          <a:p>
            <a:pPr>
              <a:defRPr sz="1500" b="1">
                <a:solidFill>
                  <a:srgbClr val="2563EB"/>
                </a:solidFill>
                <a:latin typeface="Arial"/>
              </a:defRPr>
            </a:pPr>
            <a:r>
              <a:t>Beyond Solution Dumping: Training Pedagogical Coding Tutors via Verifiable RL</a:t>
            </a:r>
          </a:p>
        </p:txBody>
      </p:sp>
      <p:sp>
        <p:nvSpPr>
          <p:cNvPr id="64" name="Rounded Rectangle 63"/>
          <p:cNvSpPr/>
          <p:nvPr/>
        </p:nvSpPr>
        <p:spPr>
          <a:xfrm>
            <a:off x="512064" y="2377440"/>
            <a:ext cx="3931920" cy="17373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DC2626"/>
                </a:solidFill>
                <a:latin typeface="Arial"/>
              </a:defRPr>
            </a:pPr>
            <a:r>
              <a:t>❌  TRADITIONAL LLM TUTORS (CHEAT)</a:t>
            </a:r>
          </a:p>
          <a:p>
            <a:pPr>
              <a:defRPr sz="950">
                <a:solidFill>
                  <a:srgbClr val="1E293B"/>
                </a:solidFill>
                <a:latin typeface="Arial"/>
              </a:defRPr>
            </a:pPr>
            <a:r>
              <a:t>📋 Dump full code solution directly to student</a:t>
            </a:r>
          </a:p>
          <a:p>
            <a:pPr>
              <a:defRPr sz="950">
                <a:solidFill>
                  <a:srgbClr val="1E293B"/>
                </a:solidFill>
                <a:latin typeface="Arial"/>
              </a:defRPr>
            </a:pPr>
            <a:r>
              <a:t>⚠️ Goodhart's Trap: 99% pass on P via copy-paste</a:t>
            </a:r>
          </a:p>
          <a:p>
            <a:pPr>
              <a:defRPr sz="950">
                <a:solidFill>
                  <a:srgbClr val="1E293B"/>
                </a:solidFill>
                <a:latin typeface="Arial"/>
              </a:defRPr>
            </a:pPr>
            <a:r>
              <a:t>📉 25% Baseline on unseen transfer task P' (0% retention)</a:t>
            </a:r>
          </a:p>
          <a:p>
            <a:pPr>
              <a:defRPr sz="950">
                <a:solidFill>
                  <a:srgbClr val="1E293B"/>
                </a:solidFill>
                <a:latin typeface="Arial"/>
              </a:defRPr>
            </a:pPr>
            <a:r>
              <a:t>🔓 50% Leakage Rate under student pressure</a:t>
            </a:r>
          </a:p>
        </p:txBody>
      </p:sp>
      <p:sp>
        <p:nvSpPr>
          <p:cNvPr id="65" name="Rounded Rectangle 64"/>
          <p:cNvSpPr/>
          <p:nvPr/>
        </p:nvSpPr>
        <p:spPr>
          <a:xfrm>
            <a:off x="4700016" y="2377440"/>
            <a:ext cx="3931920" cy="173736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10B981"/>
                </a:solidFill>
                <a:latin typeface="Arial"/>
              </a:defRPr>
            </a:pPr>
            <a:r>
              <a:t>💡  SOCRATICCODER-7B (LEARN)</a:t>
            </a:r>
          </a:p>
          <a:p>
            <a:pPr>
              <a:defRPr sz="950">
                <a:solidFill>
                  <a:srgbClr val="1E293B"/>
                </a:solidFill>
                <a:latin typeface="Arial"/>
              </a:defRPr>
            </a:pPr>
            <a:r>
              <a:t>🧠 Socratic diagnostic questions (?) guide invariant discovery</a:t>
            </a:r>
          </a:p>
          <a:p>
            <a:pPr>
              <a:defRPr sz="950">
                <a:solidFill>
                  <a:srgbClr val="1E293B"/>
                </a:solidFill>
                <a:latin typeface="Arial"/>
              </a:defRPr>
            </a:pPr>
            <a:r>
              <a:t>🛡️ AST Non-Leakage Gate: code block &gt; 2 lines ➔ Reward = 0</a:t>
            </a:r>
          </a:p>
          <a:p>
            <a:pPr>
              <a:defRPr sz="950">
                <a:solidFill>
                  <a:srgbClr val="1E293B"/>
                </a:solidFill>
                <a:latin typeface="Arial"/>
              </a:defRPr>
            </a:pPr>
            <a:r>
              <a:t>📈 +77.7% Isomorphic Transfer Gain on unseen P'</a:t>
            </a:r>
          </a:p>
          <a:p>
            <a:pPr>
              <a:defRPr sz="950">
                <a:solidFill>
                  <a:srgbClr val="1E293B"/>
                </a:solidFill>
                <a:latin typeface="Arial"/>
              </a:defRPr>
            </a:pPr>
            <a:r>
              <a:t>🔒 3.9% Adversarial Leakage (robust defense)</a:t>
            </a:r>
          </a:p>
        </p:txBody>
      </p:sp>
      <p:sp>
        <p:nvSpPr>
          <p:cNvPr id="66" name="TextBox 65"/>
          <p:cNvSpPr txBox="1"/>
          <p:nvPr/>
        </p:nvSpPr>
        <p:spPr>
          <a:xfrm>
            <a:off x="512064" y="4297680"/>
            <a:ext cx="8119872" cy="411480"/>
          </a:xfrm>
          <a:prstGeom prst="rect">
            <a:avLst/>
          </a:prstGeom>
          <a:noFill/>
        </p:spPr>
        <p:txBody>
          <a:bodyPr wrap="none">
            <a:spAutoFit/>
          </a:bodyPr>
          <a:lstStyle/>
          <a:p>
            <a:pPr>
              <a:defRPr sz="1050" b="1">
                <a:solidFill>
                  <a:srgbClr val="1E293B"/>
                </a:solidFill>
                <a:latin typeface="Arial"/>
              </a:defRPr>
            </a:pPr>
            <a:r>
              <a:t>👤 Presenter: Châu Thế Vĩ   |   🎯 GStar Bootcamp 2026   |   🏷️ Track: Advanced LLMs &amp; Alignment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72" name="Google Shape;72;p14"/>
          <p:cNvSpPr/>
          <p:nvPr/>
        </p:nvSpPr>
        <p:spPr>
          <a:xfrm>
            <a:off x="-68507" y="-65018"/>
            <a:ext cx="305766" cy="801037"/>
          </a:xfrm>
          <a:custGeom>
            <a:rect b="b" l="l" r="r" t="t"/>
            <a:pathLst>
              <a:path extrusionOk="0" h="1602073" w="611532">
                <a:moveTo>
                  <a:pt x="0" y="0"/>
                </a:moveTo>
                <a:lnTo>
                  <a:pt x="611532" y="0"/>
                </a:lnTo>
                <a:lnTo>
                  <a:pt x="611532" y="1602072"/>
                </a:lnTo>
                <a:lnTo>
                  <a:pt x="0" y="1602072"/>
                </a:lnTo>
                <a:lnTo>
                  <a:pt x="0" y="0"/>
                </a:lnTo>
                <a:close/>
              </a:path>
            </a:pathLst>
          </a:custGeom>
          <a:blipFill rotWithShape="1">
            <a:blip r:embed="rId4">
              <a:alphaModFix/>
            </a:blip>
            <a:stretch>
              <a:fillRect b="0" l="0" r="0" t="0"/>
            </a:stretch>
          </a:blipFill>
          <a:ln>
            <a:noFill/>
          </a:ln>
        </p:spPr>
      </p:sp>
      <p:sp>
        <p:nvSpPr>
          <p:cNvPr id="73" name="Google Shape;73;p14"/>
          <p:cNvSpPr/>
          <p:nvPr/>
        </p:nvSpPr>
        <p:spPr>
          <a:xfrm>
            <a:off x="292651" y="101842"/>
            <a:ext cx="4050149" cy="53849"/>
          </a:xfrm>
          <a:custGeom>
            <a:rect b="b" l="l" r="r" t="t"/>
            <a:pathLst>
              <a:path extrusionOk="0" h="107699" w="8100298">
                <a:moveTo>
                  <a:pt x="0" y="0"/>
                </a:moveTo>
                <a:lnTo>
                  <a:pt x="8100298" y="0"/>
                </a:lnTo>
                <a:lnTo>
                  <a:pt x="8100298" y="107699"/>
                </a:lnTo>
                <a:lnTo>
                  <a:pt x="0" y="107699"/>
                </a:lnTo>
                <a:lnTo>
                  <a:pt x="0" y="0"/>
                </a:lnTo>
                <a:close/>
              </a:path>
            </a:pathLst>
          </a:custGeom>
          <a:blipFill rotWithShape="1">
            <a:blip r:embed="rId5">
              <a:alphaModFix/>
            </a:blip>
            <a:stretch>
              <a:fillRect b="0" l="0" r="0" t="0"/>
            </a:stretch>
          </a:blipFill>
          <a:ln>
            <a:noFill/>
          </a:ln>
        </p:spPr>
      </p:sp>
      <p:sp>
        <p:nvSpPr>
          <p:cNvPr id="74" name="Google Shape;74;p14"/>
          <p:cNvSpPr/>
          <p:nvPr/>
        </p:nvSpPr>
        <p:spPr>
          <a:xfrm>
            <a:off x="336090" y="310922"/>
            <a:ext cx="1395042" cy="334339"/>
          </a:xfrm>
          <a:custGeom>
            <a:rect b="b" l="l" r="r" t="t"/>
            <a:pathLst>
              <a:path extrusionOk="0" h="668677" w="2790084">
                <a:moveTo>
                  <a:pt x="0" y="0"/>
                </a:moveTo>
                <a:lnTo>
                  <a:pt x="2790085" y="0"/>
                </a:lnTo>
                <a:lnTo>
                  <a:pt x="2790085" y="668677"/>
                </a:lnTo>
                <a:lnTo>
                  <a:pt x="0" y="668677"/>
                </a:lnTo>
                <a:lnTo>
                  <a:pt x="0" y="0"/>
                </a:lnTo>
                <a:close/>
              </a:path>
            </a:pathLst>
          </a:custGeom>
          <a:blipFill rotWithShape="1">
            <a:blip r:embed="rId6">
              <a:alphaModFix/>
            </a:blip>
            <a:stretch>
              <a:fillRect b="-33030" l="-14020" r="-11110" t="-49769"/>
            </a:stretch>
          </a:blipFill>
          <a:ln>
            <a:noFill/>
          </a:ln>
        </p:spPr>
      </p:sp>
      <p:sp>
        <p:nvSpPr>
          <p:cNvPr id="75" name="Google Shape;75;p14"/>
          <p:cNvSpPr/>
          <p:nvPr/>
        </p:nvSpPr>
        <p:spPr>
          <a:xfrm>
            <a:off x="336090" y="310922"/>
            <a:ext cx="1395042" cy="334339"/>
          </a:xfrm>
          <a:custGeom>
            <a:rect b="b" l="l" r="r" t="t"/>
            <a:pathLst>
              <a:path extrusionOk="0" h="668677" w="2790084">
                <a:moveTo>
                  <a:pt x="0" y="0"/>
                </a:moveTo>
                <a:lnTo>
                  <a:pt x="2790085" y="0"/>
                </a:lnTo>
                <a:lnTo>
                  <a:pt x="2790085" y="668677"/>
                </a:lnTo>
                <a:lnTo>
                  <a:pt x="0" y="668677"/>
                </a:lnTo>
                <a:lnTo>
                  <a:pt x="0" y="0"/>
                </a:lnTo>
                <a:close/>
              </a:path>
            </a:pathLst>
          </a:custGeom>
          <a:blipFill rotWithShape="1">
            <a:blip r:embed="rId7">
              <a:alphaModFix/>
            </a:blip>
            <a:stretch>
              <a:fillRect b="0" l="0" r="0" t="0"/>
            </a:stretch>
          </a:blipFill>
          <a:ln>
            <a:noFill/>
          </a:ln>
        </p:spPr>
      </p:sp>
      <p:sp>
        <p:nvSpPr>
          <p:cNvPr id="76" name="TextBox 75"/>
          <p:cNvSpPr txBox="1"/>
          <p:nvPr/>
        </p:nvSpPr>
        <p:spPr>
          <a:xfrm>
            <a:off x="2011680" y="228600"/>
            <a:ext cx="6858000" cy="502920"/>
          </a:xfrm>
          <a:prstGeom prst="rect">
            <a:avLst/>
          </a:prstGeom>
          <a:noFill/>
        </p:spPr>
        <p:txBody>
          <a:bodyPr wrap="none">
            <a:spAutoFit/>
          </a:bodyPr>
          <a:lstStyle/>
          <a:p>
            <a:pPr>
              <a:defRPr sz="1700" b="1">
                <a:solidFill>
                  <a:srgbClr val="0F172A"/>
                </a:solidFill>
                <a:latin typeface="Arial"/>
              </a:defRPr>
            </a:pPr>
            <a:r>
              <a:t>1. Technical Architecture: State-Jump RL on (P, P')</a:t>
            </a:r>
          </a:p>
        </p:txBody>
      </p:sp>
      <p:sp>
        <p:nvSpPr>
          <p:cNvPr id="77" name="Rounded Rectangle 76"/>
          <p:cNvSpPr/>
          <p:nvPr/>
        </p:nvSpPr>
        <p:spPr>
          <a:xfrm>
            <a:off x="365760" y="777240"/>
            <a:ext cx="1993392" cy="1051560"/>
          </a:xfrm>
          <a:prstGeom prst="roundRect">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defRPr sz="950" b="1">
                <a:solidFill>
                  <a:srgbClr val="2563EB"/>
                </a:solidFill>
                <a:latin typeface="Arial"/>
              </a:defRPr>
            </a:pPr>
            <a:r>
              <a:t>📦 1. Isomorphic Bank</a:t>
            </a:r>
          </a:p>
          <a:p>
            <a:pPr>
              <a:defRPr sz="819">
                <a:solidFill>
                  <a:srgbClr val="1E293B"/>
                </a:solidFill>
                <a:latin typeface="Arial"/>
              </a:defRPr>
            </a:pPr>
            <a:r>
              <a:t>• Paired tasks (P, P')</a:t>
            </a:r>
          </a:p>
          <a:p>
            <a:pPr>
              <a:defRPr sz="819">
                <a:solidFill>
                  <a:srgbClr val="1E293B"/>
                </a:solidFill>
                <a:latin typeface="Arial"/>
              </a:defRPr>
            </a:pPr>
            <a:r>
              <a:t>• 8 domain skins</a:t>
            </a:r>
          </a:p>
          <a:p>
            <a:pPr>
              <a:defRPr sz="819">
                <a:solidFill>
                  <a:srgbClr val="1E293B"/>
                </a:solidFill>
                <a:latin typeface="Arial"/>
              </a:defRPr>
            </a:pPr>
            <a:r>
              <a:t>• 4 student personas</a:t>
            </a:r>
          </a:p>
        </p:txBody>
      </p:sp>
      <p:sp>
        <p:nvSpPr>
          <p:cNvPr id="78" name="Rounded Rectangle 77"/>
          <p:cNvSpPr/>
          <p:nvPr/>
        </p:nvSpPr>
        <p:spPr>
          <a:xfrm>
            <a:off x="2505456" y="777240"/>
            <a:ext cx="1993392" cy="1051560"/>
          </a:xfrm>
          <a:prstGeom prst="roundRect">
            <a:avLst/>
          </a:prstGeom>
          <a:solidFill>
            <a:srgbClr val="EFF6FF"/>
          </a:solidFill>
          <a:ln w="1397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defRPr sz="950" b="1">
                <a:solidFill>
                  <a:srgbClr val="1E293B"/>
                </a:solidFill>
                <a:latin typeface="Arial"/>
              </a:defRPr>
            </a:pPr>
            <a:r>
              <a:t>🧠 2. Tutor Policy π_θ</a:t>
            </a:r>
          </a:p>
          <a:p>
            <a:pPr>
              <a:defRPr sz="819">
                <a:solidFill>
                  <a:srgbClr val="1E293B"/>
                </a:solidFill>
                <a:latin typeface="Arial"/>
              </a:defRPr>
            </a:pPr>
            <a:r>
              <a:t>• Qwen2.5-Coder-7B</a:t>
            </a:r>
          </a:p>
          <a:p>
            <a:pPr>
              <a:defRPr sz="819">
                <a:solidFill>
                  <a:srgbClr val="1E293B"/>
                </a:solidFill>
                <a:latin typeface="Arial"/>
              </a:defRPr>
            </a:pPr>
            <a:r>
              <a:t>• QLoRA (all linear)</a:t>
            </a:r>
          </a:p>
          <a:p>
            <a:pPr>
              <a:defRPr sz="819">
                <a:solidFill>
                  <a:srgbClr val="1E293B"/>
                </a:solidFill>
                <a:latin typeface="Arial"/>
              </a:defRPr>
            </a:pPr>
            <a:r>
              <a:t>• Diagnostic Hint (?)</a:t>
            </a:r>
          </a:p>
        </p:txBody>
      </p:sp>
      <p:sp>
        <p:nvSpPr>
          <p:cNvPr id="79" name="Rounded Rectangle 78"/>
          <p:cNvSpPr/>
          <p:nvPr/>
        </p:nvSpPr>
        <p:spPr>
          <a:xfrm>
            <a:off x="4645152" y="777240"/>
            <a:ext cx="1993392" cy="1051560"/>
          </a:xfrm>
          <a:prstGeom prst="roundRect">
            <a:avLst/>
          </a:prstGeom>
          <a:solidFill>
            <a:srgbClr val="FEF2F2"/>
          </a:solidFill>
          <a:ln w="1397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defRPr sz="950" b="1">
                <a:solidFill>
                  <a:srgbClr val="DC2626"/>
                </a:solidFill>
                <a:latin typeface="Arial"/>
              </a:defRPr>
            </a:pPr>
            <a:r>
              <a:t>🛡️ 3. AST Leakage Gate</a:t>
            </a:r>
          </a:p>
          <a:p>
            <a:pPr>
              <a:defRPr sz="819">
                <a:solidFill>
                  <a:srgbClr val="1E293B"/>
                </a:solidFill>
                <a:latin typeface="Arial"/>
              </a:defRPr>
            </a:pPr>
            <a:r>
              <a:t>• AST code lines ≤ 2</a:t>
            </a:r>
          </a:p>
          <a:p>
            <a:pPr>
              <a:defRPr sz="819">
                <a:solidFill>
                  <a:srgbClr val="1E293B"/>
                </a:solidFill>
                <a:latin typeface="Arial"/>
              </a:defRPr>
            </a:pPr>
            <a:r>
              <a:t>• N-gram overlap &lt; 0.6</a:t>
            </a:r>
          </a:p>
          <a:p>
            <a:pPr>
              <a:defRPr sz="819">
                <a:solidFill>
                  <a:srgbClr val="1E293B"/>
                </a:solidFill>
                <a:latin typeface="Arial"/>
              </a:defRPr>
            </a:pPr>
            <a:r>
              <a:t>• Leak ➔ Reward = 0</a:t>
            </a:r>
          </a:p>
        </p:txBody>
      </p:sp>
      <p:sp>
        <p:nvSpPr>
          <p:cNvPr id="80" name="Rounded Rectangle 79"/>
          <p:cNvSpPr/>
          <p:nvPr/>
        </p:nvSpPr>
        <p:spPr>
          <a:xfrm>
            <a:off x="6784848" y="777240"/>
            <a:ext cx="1993392" cy="1051560"/>
          </a:xfrm>
          <a:prstGeom prst="roundRect">
            <a:avLst/>
          </a:prstGeom>
          <a:solidFill>
            <a:srgbClr val="ECFDF5"/>
          </a:solidFill>
          <a:ln w="1397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defRPr sz="950" b="1">
                <a:solidFill>
                  <a:srgbClr val="10B981"/>
                </a:solidFill>
                <a:latin typeface="Arial"/>
              </a:defRPr>
            </a:pPr>
            <a:r>
              <a:t>🏆 4. Verifiable Reward</a:t>
            </a:r>
          </a:p>
          <a:p>
            <a:pPr>
              <a:defRPr sz="819">
                <a:solidFill>
                  <a:srgbClr val="1E293B"/>
                </a:solidFill>
                <a:latin typeface="Arial"/>
              </a:defRPr>
            </a:pPr>
            <a:r>
              <a:t>• R = I_gate * [r_P + β·Δr_P']</a:t>
            </a:r>
          </a:p>
          <a:p>
            <a:pPr>
              <a:defRPr sz="819">
                <a:solidFill>
                  <a:srgbClr val="1E293B"/>
                </a:solidFill>
                <a:latin typeface="Arial"/>
              </a:defRPr>
            </a:pPr>
            <a:r>
              <a:t>• β = 0.60 (transfer)</a:t>
            </a:r>
          </a:p>
          <a:p>
            <a:pPr>
              <a:defRPr sz="819">
                <a:solidFill>
                  <a:srgbClr val="1E293B"/>
                </a:solidFill>
                <a:latin typeface="Arial"/>
              </a:defRPr>
            </a:pPr>
            <a:r>
              <a:t>• GRPO/DAPO on Dual T4</a:t>
            </a:r>
          </a:p>
        </p:txBody>
      </p:sp>
      <p:pic>
        <p:nvPicPr>
          <p:cNvPr id="81" name="Picture 80" descr="SocraticCoder_7B_Pipeline_Architecture.png"/>
          <p:cNvPicPr>
            <a:picLocks noChangeAspect="1"/>
          </p:cNvPicPr>
          <p:nvPr/>
        </p:nvPicPr>
        <p:blipFill>
          <a:blip r:embed="rId8"/>
          <a:stretch>
            <a:fillRect/>
          </a:stretch>
        </p:blipFill>
        <p:spPr>
          <a:xfrm>
            <a:off x="365760" y="1920240"/>
            <a:ext cx="8412480" cy="2834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p:nvPr/>
        </p:nvSpPr>
        <p:spPr>
          <a:xfrm>
            <a:off x="-3842" y="0"/>
            <a:ext cx="177074" cy="664161"/>
          </a:xfrm>
          <a:custGeom>
            <a:rect b="b" l="l" r="r" t="t"/>
            <a:pathLst>
              <a:path extrusionOk="0" h="1328322" w="354147">
                <a:moveTo>
                  <a:pt x="0" y="0"/>
                </a:moveTo>
                <a:lnTo>
                  <a:pt x="354147" y="0"/>
                </a:lnTo>
                <a:lnTo>
                  <a:pt x="354147" y="1328322"/>
                </a:lnTo>
                <a:lnTo>
                  <a:pt x="0" y="1328322"/>
                </a:lnTo>
                <a:lnTo>
                  <a:pt x="0" y="0"/>
                </a:lnTo>
                <a:close/>
              </a:path>
            </a:pathLst>
          </a:custGeom>
          <a:blipFill rotWithShape="1">
            <a:blip r:embed="rId3">
              <a:alphaModFix/>
            </a:blip>
            <a:stretch>
              <a:fillRect b="0" l="0" r="0" t="0"/>
            </a:stretch>
          </a:blipFill>
          <a:ln>
            <a:noFill/>
          </a:ln>
        </p:spPr>
      </p:sp>
      <p:sp>
        <p:nvSpPr>
          <p:cNvPr id="81" name="Google Shape;81;p15"/>
          <p:cNvSpPr/>
          <p:nvPr/>
        </p:nvSpPr>
        <p:spPr>
          <a:xfrm>
            <a:off x="336532" y="311773"/>
            <a:ext cx="1392248" cy="333669"/>
          </a:xfrm>
          <a:custGeom>
            <a:rect b="b" l="l" r="r" t="t"/>
            <a:pathLst>
              <a:path extrusionOk="0" h="667338" w="2784496">
                <a:moveTo>
                  <a:pt x="0" y="0"/>
                </a:moveTo>
                <a:lnTo>
                  <a:pt x="2784496" y="0"/>
                </a:lnTo>
                <a:lnTo>
                  <a:pt x="2784496" y="667338"/>
                </a:lnTo>
                <a:lnTo>
                  <a:pt x="0" y="667338"/>
                </a:lnTo>
                <a:lnTo>
                  <a:pt x="0" y="0"/>
                </a:lnTo>
                <a:close/>
              </a:path>
            </a:pathLst>
          </a:custGeom>
          <a:blipFill rotWithShape="1">
            <a:blip r:embed="rId4">
              <a:alphaModFix/>
            </a:blip>
            <a:stretch>
              <a:fillRect b="-33030" l="-14020" r="-11110" t="-49769"/>
            </a:stretch>
          </a:blipFill>
          <a:ln>
            <a:noFill/>
          </a:ln>
        </p:spPr>
      </p:sp>
      <p:sp>
        <p:nvSpPr>
          <p:cNvPr id="85" name="Google Shape;85;p15"/>
          <p:cNvSpPr txBox="1"/>
          <p:nvPr/>
        </p:nvSpPr>
        <p:spPr>
          <a:xfrm>
            <a:off x="2150800" y="245800"/>
            <a:ext cx="6759600" cy="4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Kaggle: training &amp; evaluation</a:t>
            </a:r>
            <a:endParaRPr sz="1800">
              <a:solidFill>
                <a:schemeClr val="dk2"/>
              </a:solidFill>
            </a:endParaRPr>
          </a:p>
        </p:txBody>
      </p:sp>
      <p:sp>
        <p:nvSpPr>
          <p:cNvPr id="86" name="TextBox 85"/>
          <p:cNvSpPr txBox="1"/>
          <p:nvPr/>
        </p:nvSpPr>
        <p:spPr>
          <a:xfrm>
            <a:off x="2011680" y="228600"/>
            <a:ext cx="6858000" cy="502920"/>
          </a:xfrm>
          <a:prstGeom prst="rect">
            <a:avLst/>
          </a:prstGeom>
          <a:noFill/>
        </p:spPr>
        <p:txBody>
          <a:bodyPr wrap="none">
            <a:spAutoFit/>
          </a:bodyPr>
          <a:lstStyle/>
          <a:p>
            <a:pPr>
              <a:defRPr sz="1700" b="1">
                <a:solidFill>
                  <a:srgbClr val="0F172A"/>
                </a:solidFill>
                <a:latin typeface="Arial"/>
              </a:defRPr>
            </a:pPr>
            <a:r>
              <a:t>2. Empirical Results &amp; Breakthroughs on Dual GPU T4</a:t>
            </a:r>
          </a:p>
        </p:txBody>
      </p:sp>
      <p:sp>
        <p:nvSpPr>
          <p:cNvPr id="87" name="Rounded Rectangle 86"/>
          <p:cNvSpPr/>
          <p:nvPr/>
        </p:nvSpPr>
        <p:spPr>
          <a:xfrm>
            <a:off x="365760" y="777240"/>
            <a:ext cx="1993392" cy="100584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73152"/>
          <a:lstStyle/>
          <a:p>
            <a:pPr algn="ctr">
              <a:defRPr sz="1800" b="1">
                <a:solidFill>
                  <a:srgbClr val="10B981"/>
                </a:solidFill>
                <a:latin typeface="Arial"/>
              </a:defRPr>
            </a:pPr>
            <a:r>
              <a:t>🎯 +77.7%</a:t>
            </a:r>
          </a:p>
          <a:p>
            <a:pPr algn="ctr">
              <a:defRPr sz="950" b="1">
                <a:solidFill>
                  <a:srgbClr val="0F172A"/>
                </a:solidFill>
                <a:latin typeface="Arial"/>
              </a:defRPr>
            </a:pPr>
            <a:r>
              <a:t>Transfer Gain</a:t>
            </a:r>
          </a:p>
          <a:p>
            <a:pPr algn="ctr">
              <a:defRPr sz="800">
                <a:solidFill>
                  <a:srgbClr val="64748B"/>
                </a:solidFill>
                <a:latin typeface="Arial"/>
              </a:defRPr>
            </a:pPr>
            <a:r>
              <a:t>ΔPass@1 (vs 35.5% Gemini 3.5)</a:t>
            </a:r>
          </a:p>
        </p:txBody>
      </p:sp>
      <p:sp>
        <p:nvSpPr>
          <p:cNvPr id="88" name="Rounded Rectangle 87"/>
          <p:cNvSpPr/>
          <p:nvPr/>
        </p:nvSpPr>
        <p:spPr>
          <a:xfrm>
            <a:off x="2505456" y="777240"/>
            <a:ext cx="1993392" cy="100584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73152"/>
          <a:lstStyle/>
          <a:p>
            <a:pPr algn="ctr">
              <a:defRPr sz="1800" b="1">
                <a:solidFill>
                  <a:srgbClr val="10B981"/>
                </a:solidFill>
                <a:latin typeface="Arial"/>
              </a:defRPr>
            </a:pPr>
            <a:r>
              <a:t>🛡️ 3.9%</a:t>
            </a:r>
          </a:p>
          <a:p>
            <a:pPr algn="ctr">
              <a:defRPr sz="950" b="1">
                <a:solidFill>
                  <a:srgbClr val="0F172A"/>
                </a:solidFill>
                <a:latin typeface="Arial"/>
              </a:defRPr>
            </a:pPr>
            <a:r>
              <a:t>Adversarial Leakage</a:t>
            </a:r>
          </a:p>
          <a:p>
            <a:pPr algn="ctr">
              <a:defRPr sz="800">
                <a:solidFill>
                  <a:srgbClr val="64748B"/>
                </a:solidFill>
                <a:latin typeface="Arial"/>
              </a:defRPr>
            </a:pPr>
            <a:r>
              <a:t>vs 50% Base &amp; 23.1% Gemini</a:t>
            </a:r>
          </a:p>
        </p:txBody>
      </p:sp>
      <p:sp>
        <p:nvSpPr>
          <p:cNvPr id="89" name="Rounded Rectangle 88"/>
          <p:cNvSpPr/>
          <p:nvPr/>
        </p:nvSpPr>
        <p:spPr>
          <a:xfrm>
            <a:off x="4645152" y="777240"/>
            <a:ext cx="1993392" cy="100584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73152"/>
          <a:lstStyle/>
          <a:p>
            <a:pPr algn="ctr">
              <a:defRPr sz="1800" b="1">
                <a:solidFill>
                  <a:srgbClr val="2563EB"/>
                </a:solidFill>
                <a:latin typeface="Arial"/>
              </a:defRPr>
            </a:pPr>
            <a:r>
              <a:t>⚖️ +27.5%</a:t>
            </a:r>
          </a:p>
          <a:p>
            <a:pPr algn="ctr">
              <a:defRPr sz="950" b="1">
                <a:solidFill>
                  <a:srgbClr val="0F172A"/>
                </a:solidFill>
                <a:latin typeface="Arial"/>
              </a:defRPr>
            </a:pPr>
            <a:r>
              <a:t>Causal RL Boost</a:t>
            </a:r>
          </a:p>
          <a:p>
            <a:pPr algn="ctr">
              <a:defRPr sz="800">
                <a:solidFill>
                  <a:srgbClr val="64748B"/>
                </a:solidFill>
                <a:latin typeface="Arial"/>
              </a:defRPr>
            </a:pPr>
            <a:r>
              <a:t>β=0.60 vs β=0.0 (p-only)</a:t>
            </a:r>
          </a:p>
        </p:txBody>
      </p:sp>
      <p:sp>
        <p:nvSpPr>
          <p:cNvPr id="90" name="Rounded Rectangle 89"/>
          <p:cNvSpPr/>
          <p:nvPr/>
        </p:nvSpPr>
        <p:spPr>
          <a:xfrm>
            <a:off x="6784848" y="777240"/>
            <a:ext cx="1993392" cy="1005840"/>
          </a:xfrm>
          <a:prstGeom prst="roundRect">
            <a:avLst/>
          </a:prstGeom>
          <a:solidFill>
            <a:srgbClr val="EFF6FF"/>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73152"/>
          <a:lstStyle/>
          <a:p>
            <a:pPr algn="ctr">
              <a:defRPr sz="1800" b="1">
                <a:solidFill>
                  <a:srgbClr val="1E293B"/>
                </a:solidFill>
                <a:latin typeface="Arial"/>
              </a:defRPr>
            </a:pPr>
            <a:r>
              <a:t>⚡ +1443.6</a:t>
            </a:r>
          </a:p>
          <a:p>
            <a:pPr algn="ctr">
              <a:defRPr sz="950" b="1">
                <a:solidFill>
                  <a:srgbClr val="0F172A"/>
                </a:solidFill>
                <a:latin typeface="Arial"/>
              </a:defRPr>
            </a:pPr>
            <a:r>
              <a:t>Token Efficiency</a:t>
            </a:r>
          </a:p>
          <a:p>
            <a:pPr algn="ctr">
              <a:defRPr sz="800">
                <a:solidFill>
                  <a:srgbClr val="64748B"/>
                </a:solidFill>
                <a:latin typeface="Arial"/>
              </a:defRPr>
            </a:pPr>
            <a:r>
              <a:t>Gain/1k tok (&gt;3.9x Gemini)</a:t>
            </a:r>
          </a:p>
        </p:txBody>
      </p:sp>
      <p:pic>
        <p:nvPicPr>
          <p:cNvPr id="91" name="Picture 90" descr="transfer_vs_leakage.png"/>
          <p:cNvPicPr>
            <a:picLocks noChangeAspect="1"/>
          </p:cNvPicPr>
          <p:nvPr/>
        </p:nvPicPr>
        <p:blipFill>
          <a:blip r:embed="rId5"/>
          <a:stretch>
            <a:fillRect/>
          </a:stretch>
        </p:blipFill>
        <p:spPr>
          <a:xfrm>
            <a:off x="365760" y="1920240"/>
            <a:ext cx="4206240" cy="2834640"/>
          </a:xfrm>
          <a:prstGeom prst="rect">
            <a:avLst/>
          </a:prstGeom>
        </p:spPr>
      </p:pic>
      <p:sp>
        <p:nvSpPr>
          <p:cNvPr id="92" name="Rounded Rectangle 91"/>
          <p:cNvSpPr/>
          <p:nvPr/>
        </p:nvSpPr>
        <p:spPr>
          <a:xfrm>
            <a:off x="4709160" y="1920240"/>
            <a:ext cx="4069080" cy="868680"/>
          </a:xfrm>
          <a:prstGeom prst="roundRect">
            <a:avLst/>
          </a:prstGeom>
          <a:solidFill>
            <a:srgbClr val="ECFDF5"/>
          </a:solidFill>
          <a:ln w="1397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defRPr sz="950" b="1">
                <a:solidFill>
                  <a:srgbClr val="1E293B"/>
                </a:solidFill>
                <a:latin typeface="Arial"/>
              </a:defRPr>
            </a:pPr>
            <a:r>
              <a:t>🏆 SOTA Pedagogical Transfer (+77.7%)</a:t>
            </a:r>
          </a:p>
          <a:p>
            <a:pPr>
              <a:defRPr sz="830">
                <a:solidFill>
                  <a:srgbClr val="1E293B"/>
                </a:solidFill>
                <a:latin typeface="Arial"/>
              </a:defRPr>
            </a:pPr>
            <a:r>
              <a:t>Outperforms Google Gemini 3.5 Flash-Lite (+35.5%) &amp; Qwen Base (+40.6%) across HumanEvalFix, MBPP+, &amp; AlgorithmicTransfer.</a:t>
            </a:r>
          </a:p>
        </p:txBody>
      </p:sp>
      <p:sp>
        <p:nvSpPr>
          <p:cNvPr id="93" name="Rounded Rectangle 92"/>
          <p:cNvSpPr/>
          <p:nvPr/>
        </p:nvSpPr>
        <p:spPr>
          <a:xfrm>
            <a:off x="4709160" y="2898648"/>
            <a:ext cx="4069080" cy="868680"/>
          </a:xfrm>
          <a:prstGeom prst="roundRect">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defRPr sz="950" b="1">
                <a:solidFill>
                  <a:srgbClr val="1E293B"/>
                </a:solidFill>
                <a:latin typeface="Arial"/>
              </a:defRPr>
            </a:pPr>
            <a:r>
              <a:t>⚖️ Causal Ablation Proof (+27.5%)</a:t>
            </a:r>
          </a:p>
          <a:p>
            <a:pPr>
              <a:defRPr sz="830">
                <a:solidFill>
                  <a:srgbClr val="1E293B"/>
                </a:solidFill>
                <a:latin typeface="Arial"/>
              </a:defRPr>
            </a:pPr>
            <a:r>
              <a:t>Removing transfer incentive (β=0) drops gain by 27.5%, proving transfer reward is essential for genuine student learning.</a:t>
            </a:r>
          </a:p>
        </p:txBody>
      </p:sp>
      <p:sp>
        <p:nvSpPr>
          <p:cNvPr id="94" name="Rounded Rectangle 93"/>
          <p:cNvSpPr/>
          <p:nvPr/>
        </p:nvSpPr>
        <p:spPr>
          <a:xfrm>
            <a:off x="4709160" y="3877056"/>
            <a:ext cx="4069080" cy="868680"/>
          </a:xfrm>
          <a:prstGeom prst="roundRect">
            <a:avLst/>
          </a:prstGeom>
          <a:solidFill>
            <a:srgbClr val="FEF3C7"/>
          </a:solidFill>
          <a:ln w="1397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defRPr sz="950" b="1">
                <a:solidFill>
                  <a:srgbClr val="1E293B"/>
                </a:solidFill>
                <a:latin typeface="Arial"/>
              </a:defRPr>
            </a:pPr>
            <a:r>
              <a:t>🛡️ 96.1% Adversarial Defense &amp; Live IDE</a:t>
            </a:r>
          </a:p>
          <a:p>
            <a:pPr>
              <a:defRPr sz="830">
                <a:solidFill>
                  <a:srgbClr val="1E293B"/>
                </a:solidFill>
                <a:latin typeface="Arial"/>
              </a:defRPr>
            </a:pPr>
            <a:r>
              <a:t>Leakage drops from 50% to 3.9% under code pressure (vs 23.1% Gemini). Served live on Kaggle Dual T4 with sandbox verifier.</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